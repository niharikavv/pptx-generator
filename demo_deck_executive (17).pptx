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48640" y="374650"/>
            <a:ext cx="7494905" cy="716915"/>
          </a:xfrm>
        </p:spPr>
        <p:txBody>
          <a:bodyPr>
            <a:normAutofit fontScale="90000"/>
          </a:bodyPr>
          <a:lstStyle/>
          <a:p>
            <a:r>
              <a:rPr sz="2800" b="1">
                <a:solidFill>
                  <a:srgbClr val="0B5FFF"/>
                </a:solidFill>
                <a:latin typeface="Calibri" panose="020F0502020204030204"/>
              </a:rPr>
              <a:t>Abstract</a:t>
            </a:r>
            <a:endParaRPr sz="2800" b="1">
              <a:solidFill>
                <a:srgbClr val="0B5FFF"/>
              </a:solidFill>
              <a:latin typeface="Calibri" panose="020F0502020204030204"/>
            </a:endParaRPr>
          </a:p>
          <a:p>
            <a:r>
              <a:rPr sz="2800" b="1">
                <a:solidFill>
                  <a:srgbClr val="0B5FFF"/>
                </a:solidFill>
                <a:latin typeface="Calibri" panose="020F0502020204030204"/>
              </a:rPr>
              <a:t>Primary eye care providers refer glaucoma patients </a:t>
            </a:r>
            <a:endParaRPr sz="2800" b="1">
              <a:solidFill>
                <a:srgbClr val="0B5FFF"/>
              </a:solidFill>
              <a:latin typeface="Calibri" panose="020F0502020204030204"/>
            </a:endParaRPr>
          </a:p>
        </p:txBody>
      </p:sp>
      <p:sp>
        <p:nvSpPr>
          <p:cNvPr id="3" name="Subtitle 2"/>
          <p:cNvSpPr>
            <a:spLocks noGrp="1"/>
          </p:cNvSpPr>
          <p:nvPr>
            <p:ph type="subTitle" idx="1"/>
          </p:nvPr>
        </p:nvSpPr>
        <p:spPr>
          <a:xfrm>
            <a:off x="571500" y="3886200"/>
            <a:ext cx="7579995" cy="1752600"/>
          </a:xfrm>
        </p:spPr>
        <p:txBody>
          <a:bodyPr>
            <a:normAutofit/>
          </a:bodyPr>
          <a:lstStyle/>
          <a:p>
            <a:r>
              <a:rPr lang="en-IN"/>
              <a:t>  </a:t>
            </a:r>
            <a:endParaRPr lang="en-IN"/>
          </a:p>
        </p:txBody>
      </p:sp>
      <p:sp>
        <p:nvSpPr>
          <p:cNvPr id="4" name="TextBox 3"/>
          <p:cNvSpPr txBox="1"/>
          <p:nvPr/>
        </p:nvSpPr>
        <p:spPr>
          <a:xfrm>
            <a:off x="548640" y="1463040"/>
            <a:ext cx="8470265" cy="1198880"/>
          </a:xfrm>
          <a:prstGeom prst="rect">
            <a:avLst/>
          </a:prstGeom>
          <a:noFill/>
        </p:spPr>
        <p:txBody>
          <a:bodyPr wrap="square">
            <a:spAutoFit/>
          </a:bodyPr>
          <a:lstStyle/>
          <a:p>
            <a:r>
              <a:rPr sz="1800" b="0">
                <a:latin typeface="Calibri" panose="020F0502020204030204"/>
              </a:rPr>
              <a:t>Aspecialized clinical interpretation is required to synthesize this complementary information.</a:t>
            </a:r>
            <a:endParaRPr sz="1800" b="0">
              <a:latin typeface="Calibri" panose="020F0502020204030204"/>
            </a:endParaRPr>
          </a:p>
          <a:p>
            <a:r>
              <a:rPr sz="1800" b="0">
                <a:latin typeface="Calibri" panose="020F0502020204030204"/>
              </a:rPr>
              <a:t>Interventions for further improving detection, diagnosis, and risk stratification at the primary care level can safeguard against delayed referral to a glaucoma specialist.</a:t>
            </a:r>
            <a:endParaRPr sz="1800" b="0">
              <a:latin typeface="Calibri" panose="020F0502020204030204"/>
            </a:endParaRPr>
          </a:p>
        </p:txBody>
      </p:sp>
      <p:sp>
        <p:nvSpPr>
          <p:cNvPr id="5" name="Text Box 4"/>
          <p:cNvSpPr txBox="1"/>
          <p:nvPr/>
        </p:nvSpPr>
        <p:spPr>
          <a:xfrm>
            <a:off x="532130" y="2829560"/>
            <a:ext cx="7651750" cy="1072515"/>
          </a:xfrm>
          <a:prstGeom prst="rect">
            <a:avLst/>
          </a:prstGeom>
          <a:noFill/>
        </p:spPr>
        <p:txBody>
          <a:bodyPr wrap="square" rtlCol="0">
            <a:noAutofit/>
          </a:bodyPr>
          <a:p>
            <a:r>
              <a:rPr>
                <a:latin typeface="Calibri" panose="020F0502020204030204"/>
                <a:sym typeface="+mn-ea"/>
              </a:rPr>
              <a:t>In a user study with 87 optometrists, human-AI teams achieved higher accuracy (60%) than humans alone (51%), but explanations did not enhance performance.</a:t>
            </a:r>
            <a:endParaRPr>
              <a:latin typeface="Calibri" panose="020F0502020204030204"/>
              <a:sym typeface="+mn-ea"/>
            </a:endParaRPr>
          </a:p>
          <a:p>
            <a:endParaRPr>
              <a:latin typeface="Calibri" panose="020F0502020204030204"/>
              <a:sym typeface="+mn-ea"/>
            </a:endParaRPr>
          </a:p>
          <a:p>
            <a:r>
              <a:rPr>
                <a:latin typeface="Calibri" panose="020F0502020204030204"/>
                <a:sym typeface="+mn-ea"/>
              </a:rPr>
              <a:t>This finding challenges the assumption that explanations alongside AI suggestions will improve clinicians’ performance, as observed in previous healthcare AI evaluations27, and underscores the challenges of designing explanations for AI support under knowledge imbalance.</a:t>
            </a:r>
            <a:endParaRPr b="0">
              <a:latin typeface="Calibri" panose="020F0502020204030204"/>
            </a:endParaRPr>
          </a:p>
          <a:p>
            <a:endParaRPr>
              <a:latin typeface="Calibri" panose="020F0502020204030204"/>
              <a:sym typeface="+mn-ea"/>
            </a:endParaRPr>
          </a:p>
          <a:p>
            <a:endParaRPr>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Demand for eye care is expected to outpace the ophthalmology</a:t>
            </a:r>
            <a:endParaRPr sz="2800" b="1">
              <a:solidFill>
                <a:srgbClr val="0B5FFF"/>
              </a:solidFill>
              <a:latin typeface="Calibri" panose="020F0502020204030204"/>
            </a:endParaRPr>
          </a:p>
        </p:txBody>
      </p:sp>
      <p:sp>
        <p:nvSpPr>
          <p:cNvPr id="3" name="Text Placeholder 2"/>
          <p:cNvSpPr>
            <a:spLocks noGrp="1"/>
          </p:cNvSpPr>
          <p:nvPr>
            <p:ph type="body" idx="1"/>
          </p:nvPr>
        </p:nvSpPr>
        <p:spPr/>
        <p:txBody>
          <a:bodyPr/>
          <a:lstStyle/>
          <a:p/>
        </p:txBody>
      </p:sp>
      <p:sp>
        <p:nvSpPr>
          <p:cNvPr id="4" name="Content Placeholder 3"/>
          <p:cNvSpPr>
            <a:spLocks noGrp="1"/>
          </p:cNvSpPr>
          <p:nvPr>
            <p:ph sz="half" idx="2"/>
          </p:nvPr>
        </p:nvSpPr>
        <p:spPr/>
        <p:txBody>
          <a:bodyPr/>
          <a:lstStyle/>
          <a:p/>
        </p:txBody>
      </p:sp>
      <p:sp>
        <p:nvSpPr>
          <p:cNvPr id="5" name="Text Placeholder 4"/>
          <p:cNvSpPr>
            <a:spLocks noGrp="1"/>
          </p:cNvSpPr>
          <p:nvPr>
            <p:ph type="body" sz="quarter" idx="3"/>
          </p:nvPr>
        </p:nvSpPr>
        <p:spPr/>
        <p:txBody>
          <a:bodyPr/>
          <a:lstStyle/>
          <a:p/>
        </p:txBody>
      </p:sp>
      <p:sp>
        <p:nvSpPr>
          <p:cNvPr id="6" name="Content Placeholder 5"/>
          <p:cNvSpPr>
            <a:spLocks noGrp="1"/>
          </p:cNvSpPr>
          <p:nvPr>
            <p:ph sz="quarter" idx="4"/>
          </p:nvPr>
        </p:nvSpPr>
        <p:spPr/>
        <p:txBody>
          <a:bodyPr/>
          <a:lstStyle/>
          <a:p/>
        </p:txBody>
      </p:sp>
      <p:pic>
        <p:nvPicPr>
          <p:cNvPr id="7" name="Picture 6" descr="auto_image_1763658549_1.png"/>
          <p:cNvPicPr>
            <a:picLocks noChangeAspect="1"/>
          </p:cNvPicPr>
          <p:nvPr/>
        </p:nvPicPr>
        <p:blipFill>
          <a:blip r:embed="rId1"/>
          <a:stretch>
            <a:fillRect/>
          </a:stretch>
        </p:blipFill>
        <p:spPr>
          <a:xfrm>
            <a:off x="456928" y="1664970"/>
            <a:ext cx="7837714" cy="4572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rPr sz="2800" b="1">
                <a:solidFill>
                  <a:srgbClr val="0B5FFF"/>
                </a:solidFill>
                <a:latin typeface="Calibri" panose="020F0502020204030204"/>
              </a:rPr>
              <a:t>Figure 1 shows the different types of AI support for referra</a:t>
            </a:r>
            <a:endParaRPr sz="2800" b="1">
              <a:solidFill>
                <a:srgbClr val="0B5FFF"/>
              </a:solidFill>
              <a:latin typeface="Calibri" panose="020F0502020204030204"/>
            </a:endParaRPr>
          </a:p>
        </p:txBody>
      </p:sp>
      <p:sp>
        <p:nvSpPr>
          <p:cNvPr id="3" name="Subtitle 2"/>
          <p:cNvSpPr>
            <a:spLocks noGrp="1"/>
          </p:cNvSpPr>
          <p:nvPr>
            <p:ph type="subTitle" idx="1"/>
          </p:nvPr>
        </p:nvSpPr>
        <p:spPr/>
        <p:txBody>
          <a:bodyPr/>
          <a:lstStyle/>
          <a:p/>
        </p:txBody>
      </p:sp>
      <p:pic>
        <p:nvPicPr>
          <p:cNvPr id="4" name="Picture 3" descr="auto_chart_1763658549_2.png"/>
          <p:cNvPicPr>
            <a:picLocks noChangeAspect="1"/>
          </p:cNvPicPr>
          <p:nvPr/>
        </p:nvPicPr>
        <p:blipFill>
          <a:blip r:embed="rId1"/>
          <a:stretch>
            <a:fillRect/>
          </a:stretch>
        </p:blipFill>
        <p:spPr>
          <a:xfrm>
            <a:off x="457200" y="1371600"/>
            <a:ext cx="8229600" cy="4114800"/>
          </a:xfrm>
          <a:prstGeom prst="rect">
            <a:avLst/>
          </a:prstGeom>
        </p:spPr>
      </p:pic>
      <p:sp>
        <p:nvSpPr>
          <p:cNvPr id="5" name="TextBox 4"/>
          <p:cNvSpPr txBox="1"/>
          <p:nvPr/>
        </p:nvSpPr>
        <p:spPr>
          <a:xfrm>
            <a:off x="914400" y="5120640"/>
            <a:ext cx="7315200" cy="457200"/>
          </a:xfrm>
          <a:prstGeom prst="rect">
            <a:avLst/>
          </a:prstGeom>
          <a:noFill/>
        </p:spPr>
        <p:txBody>
          <a:bodyPr wrap="none">
            <a:spAutoFit/>
          </a:bodyPr>
          <a:lstStyle/>
          <a:p>
            <a:r>
              <a:rPr sz="1600" b="0">
                <a:solidFill>
                  <a:srgbClr val="222222"/>
                </a:solidFill>
                <a:latin typeface="Calibri" panose="020F0502020204030204"/>
              </a:rPr>
              <a:t>Auto-generated chart</a:t>
            </a:r>
            <a:endParaRPr sz="1600" b="0">
              <a:solidFill>
                <a:srgbClr val="222222"/>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Closing the performance gap between the human and AI, for ex</a:t>
            </a:r>
            <a:endParaRPr sz="2800" b="1">
              <a:solidFill>
                <a:srgbClr val="0B5FFF"/>
              </a:solidFill>
              <a:latin typeface="Calibri" panose="020F0502020204030204"/>
            </a:endParaRPr>
          </a:p>
        </p:txBody>
      </p:sp>
      <p:sp>
        <p:nvSpPr>
          <p:cNvPr id="3" name="Content Placeholder 2"/>
          <p:cNvSpPr>
            <a:spLocks noGrp="1"/>
          </p:cNvSpPr>
          <p:nvPr>
            <p:ph sz="half" idx="1"/>
          </p:nvPr>
        </p:nvSpPr>
        <p:spPr/>
        <p:txBody>
          <a:bodyPr/>
          <a:lstStyle/>
          <a:p>
            <a:r>
              <a:rPr sz="1800" b="0">
                <a:latin typeface="Calibri" panose="020F0502020204030204"/>
              </a:rPr>
              <a:t>Closing the performance gap between the human and AI, for example, involving glaucoma specialists, may help achieve synergy in referral decisions, where the combined performance exceeds that of either the human or AI alone31.</a:t>
            </a:r>
            <a:endParaRPr sz="1800" b="0">
              <a:latin typeface="Calibri" panose="020F0502020204030204"/>
            </a:endParaRPr>
          </a:p>
          <a:p>
            <a:r>
              <a:rPr sz="1800" b="0">
                <a:latin typeface="Calibri" panose="020F0502020204030204"/>
              </a:rPr>
              <a:t>An important consideration is that users with different levels of expertise may benefit from other types of AI support better aligned with their roles, such as treatment planning or diagnostic guidance.</a:t>
            </a:r>
            <a:endParaRPr sz="1800" b="0">
              <a:latin typeface="Calibri" panose="020F0502020204030204"/>
            </a:endParaRPr>
          </a:p>
          <a:p>
            <a:r>
              <a:rPr sz="1800" b="0">
                <a:latin typeface="Calibri" panose="020F0502020204030204"/>
              </a:rPr>
              <a:t>Despite improved team performance, there were no significant differences across AI support types, suggesting no evidence for hypothesis H1b.</a:t>
            </a:r>
            <a:endParaRPr sz="1800" b="0">
              <a:latin typeface="Calibri" panose="020F0502020204030204"/>
            </a:endParaRPr>
          </a:p>
          <a:p>
            <a:endParaRPr sz="1800" b="0">
              <a:latin typeface="Calibri" panose="020F0502020204030204"/>
            </a:endParaRPr>
          </a:p>
        </p:txBody>
      </p:sp>
      <p:sp>
        <p:nvSpPr>
          <p:cNvPr id="4" name="Content Placeholder 3"/>
          <p:cNvSpPr>
            <a:spLocks noGrp="1"/>
          </p:cNvSpPr>
          <p:nvPr>
            <p:ph sz="half" idx="2"/>
          </p:nvPr>
        </p:nvSpPr>
        <p:spPr/>
        <p:txBody>
          <a:bodyPr/>
          <a:lstStyle/>
          <a:p>
            <a:r>
              <a:rPr sz="1800" b="0">
                <a:latin typeface="Calibri" panose="020F0502020204030204"/>
              </a:rPr>
              <a:t>We did not assess optometrists’ baseline knowledge of glaucoma, which could have influenced their performance and their ability to detect AI errors.</a:t>
            </a:r>
            <a:endParaRPr sz="1800" b="0">
              <a:latin typeface="Calibri" panose="020F0502020204030204"/>
            </a:endParaRPr>
          </a:p>
          <a:p>
            <a:r>
              <a:rPr sz="1800" b="0">
                <a:latin typeface="Calibri" panose="020F0502020204030204"/>
              </a:rPr>
              <a:t>Moreover, it is unclear whether these results would replicate with other screening groups, such as non-specialist ophthalmologists.</a:t>
            </a:r>
            <a:endParaRPr sz="1800" b="0">
              <a:latin typeface="Calibri" panose="020F0502020204030204"/>
            </a:endParaRPr>
          </a:p>
          <a:p>
            <a:r>
              <a:rPr sz="1800" b="0">
                <a:latin typeface="Calibri" panose="020F0502020204030204"/>
              </a:rPr>
              <a:t>Further validation with larger samples is needed to address these limitations and to overcome the restricted number of stimuli, which restricts the ability to account for algorithmic failure modes and reflect referrals across a wider range of cases.</a:t>
            </a:r>
            <a:endParaRPr sz="1800" b="0">
              <a:latin typeface="Calibri" panose="020F0502020204030204"/>
            </a:endParaRPr>
          </a:p>
          <a:p>
            <a:endParaRPr sz="1800" b="0">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Studies have demonstrated improved diagnostic accuracy with </a:t>
            </a:r>
            <a:endParaRPr sz="2800" b="1">
              <a:solidFill>
                <a:srgbClr val="0B5FFF"/>
              </a:solidFill>
              <a:latin typeface="Calibri" panose="020F0502020204030204"/>
            </a:endParaRPr>
          </a:p>
        </p:txBody>
      </p:sp>
      <p:sp>
        <p:nvSpPr>
          <p:cNvPr id="3" name="Content Placeholder 2"/>
          <p:cNvSpPr>
            <a:spLocks noGrp="1"/>
          </p:cNvSpPr>
          <p:nvPr>
            <p:ph idx="1"/>
          </p:nvPr>
        </p:nvSpPr>
        <p:spPr/>
        <p:txBody>
          <a:bodyPr/>
          <a:lstStyle/>
          <a:p>
            <a:r>
              <a:rPr sz="1800" b="0">
                <a:solidFill>
                  <a:srgbClr val="222222"/>
                </a:solidFill>
                <a:latin typeface="Calibri" panose="020F0502020204030204"/>
              </a:rPr>
              <a:t>Studies have demonstrated improved diagnostic accuracy with AI-enabled decision support35, with less experienced clinicians benefiting most from AI interventions19,36.</a:t>
            </a:r>
            <a:endParaRPr sz="1800" b="0">
              <a:solidFill>
                <a:srgbClr val="222222"/>
              </a:solidFill>
              <a:latin typeface="Calibri" panose="020F0502020204030204"/>
            </a:endParaRPr>
          </a:p>
          <a:p>
            <a:r>
              <a:rPr sz="1800" b="0">
                <a:solidFill>
                  <a:srgbClr val="222222"/>
                </a:solidFill>
                <a:latin typeface="Calibri" panose="020F0502020204030204"/>
              </a:rPr>
              <a:t>H1.b: AI explanations improve performance compared to groups using AI support without explanations.</a:t>
            </a:r>
            <a:endParaRPr sz="1800" b="0">
              <a:solidFill>
                <a:srgbClr val="222222"/>
              </a:solidFill>
              <a:latin typeface="Calibri" panose="020F0502020204030204"/>
            </a:endParaRPr>
          </a:p>
          <a:p>
            <a:r>
              <a:rPr sz="1800" b="0">
                <a:solidFill>
                  <a:srgbClr val="222222"/>
                </a:solidFill>
                <a:latin typeface="Calibri" panose="020F0502020204030204"/>
              </a:rPr>
              <a:t>Despite mixed findings about the benefit of XAI to maximize decision accuracy37,38,39, presenting explanations can enhance diagnostic accuracy21.</a:t>
            </a:r>
            <a:endParaRPr sz="1800" b="0">
              <a:solidFill>
                <a:srgbClr val="222222"/>
              </a:solidFill>
              <a:latin typeface="Calibri" panose="020F0502020204030204"/>
            </a:endParaRPr>
          </a:p>
          <a:p>
            <a:r>
              <a:rPr sz="1800" b="0">
                <a:solidFill>
                  <a:srgbClr val="222222"/>
                </a:solidFill>
                <a:latin typeface="Calibri" panose="020F0502020204030204"/>
              </a:rPr>
              <a:t>This improvement is anticipated under knowledge imbalance, as explanations may help users integrate AI insights with their general knowledge.</a:t>
            </a:r>
            <a:endParaRPr sz="1800" b="0">
              <a:solidFill>
                <a:srgbClr val="222222"/>
              </a:solidFill>
              <a:latin typeface="Calibri" panose="020F0502020204030204"/>
            </a:endParaRPr>
          </a:p>
          <a:p>
            <a:r>
              <a:rPr sz="1800" b="0">
                <a:solidFill>
                  <a:srgbClr val="222222"/>
                </a:solidFill>
                <a:latin typeface="Calibri" panose="020F0502020204030204"/>
              </a:rPr>
              <a:t>H2.a: AI support enhances decision-making experience compared to groups without AI support.</a:t>
            </a:r>
            <a:endParaRPr sz="1800" b="0">
              <a:solidFill>
                <a:srgbClr val="222222"/>
              </a:solidFill>
              <a:latin typeface="Calibri" panose="020F0502020204030204"/>
            </a:endParaRPr>
          </a:p>
          <a:p>
            <a:r>
              <a:rPr sz="1800" b="0">
                <a:solidFill>
                  <a:srgbClr val="222222"/>
                </a:solidFill>
                <a:latin typeface="Calibri" panose="020F0502020204030204"/>
              </a:rPr>
              <a:t>Positive impressions toward integrating AI support for breast cancer screening suggest AI improves the decision-making experience35.</a:t>
            </a:r>
            <a:endParaRPr sz="1800" b="0">
              <a:solidFill>
                <a:srgbClr val="222222"/>
              </a:solidFill>
              <a:latin typeface="Calibri" panose="020F0502020204030204"/>
            </a:endParaRPr>
          </a:p>
          <a:p>
            <a:r>
              <a:rPr sz="1800" b="0">
                <a:solidFill>
                  <a:srgbClr val="222222"/>
                </a:solidFill>
                <a:latin typeface="Calibri" panose="020F0502020204030204"/>
              </a:rPr>
              <a:t>Understanding benefits of AI support over humans working independently is crucial for its integration into clinical workflows.</a:t>
            </a:r>
            <a:endParaRPr sz="1800" b="0">
              <a:solidFill>
                <a:srgbClr val="222222"/>
              </a:solidFill>
              <a:latin typeface="Calibri" panose="020F0502020204030204"/>
            </a:endParaRPr>
          </a:p>
          <a:p>
            <a:r>
              <a:rPr sz="1800" b="0">
                <a:solidFill>
                  <a:srgbClr val="222222"/>
                </a:solidFill>
                <a:latin typeface="Calibri" panose="020F0502020204030204"/>
              </a:rPr>
              <a:t>H2.b: AI explanations enhance the decision-making experience compared to AI support without explanations.</a:t>
            </a:r>
            <a:endParaRPr sz="1800" b="0">
              <a:solidFill>
                <a:srgbClr val="222222"/>
              </a:solidFill>
              <a:latin typeface="Calibri" panose="020F0502020204030204"/>
            </a:endParaRPr>
          </a:p>
          <a:p>
            <a:endParaRPr sz="1800" b="0">
              <a:solidFill>
                <a:srgbClr val="222222"/>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We recorded whether participants completed post-graduate opt</a:t>
            </a:r>
            <a:endParaRPr sz="2800" b="1">
              <a:solidFill>
                <a:srgbClr val="0B5FFF"/>
              </a:solidFill>
              <a:latin typeface="Calibri" panose="020F0502020204030204"/>
            </a:endParaRPr>
          </a:p>
        </p:txBody>
      </p:sp>
      <p:sp>
        <p:nvSpPr>
          <p:cNvPr id="3" name="Text Placeholder 2"/>
          <p:cNvSpPr>
            <a:spLocks noGrp="1"/>
          </p:cNvSpPr>
          <p:nvPr>
            <p:ph type="body" idx="1"/>
          </p:nvPr>
        </p:nvSpPr>
        <p:spPr/>
        <p:txBody>
          <a:bodyPr/>
          <a:lstStyle/>
          <a:p/>
        </p:txBody>
      </p:sp>
      <p:sp>
        <p:nvSpPr>
          <p:cNvPr id="4" name="Content Placeholder 3"/>
          <p:cNvSpPr>
            <a:spLocks noGrp="1"/>
          </p:cNvSpPr>
          <p:nvPr>
            <p:ph sz="half" idx="2"/>
          </p:nvPr>
        </p:nvSpPr>
        <p:spPr/>
        <p:txBody>
          <a:bodyPr/>
          <a:lstStyle/>
          <a:p/>
        </p:txBody>
      </p:sp>
      <p:sp>
        <p:nvSpPr>
          <p:cNvPr id="5" name="Text Placeholder 4"/>
          <p:cNvSpPr>
            <a:spLocks noGrp="1"/>
          </p:cNvSpPr>
          <p:nvPr>
            <p:ph type="body" sz="quarter" idx="3"/>
          </p:nvPr>
        </p:nvSpPr>
        <p:spPr/>
        <p:txBody>
          <a:bodyPr/>
          <a:lstStyle/>
          <a:p/>
        </p:txBody>
      </p:sp>
      <p:sp>
        <p:nvSpPr>
          <p:cNvPr id="6" name="Content Placeholder 5"/>
          <p:cNvSpPr>
            <a:spLocks noGrp="1"/>
          </p:cNvSpPr>
          <p:nvPr>
            <p:ph sz="quarter" idx="4"/>
          </p:nvPr>
        </p:nvSpPr>
        <p:spPr/>
        <p:txBody>
          <a:bodyPr/>
          <a:lstStyle/>
          <a:p/>
        </p:txBody>
      </p:sp>
      <p:pic>
        <p:nvPicPr>
          <p:cNvPr id="7" name="Picture 6" descr="auto_image_1763658549_5.png"/>
          <p:cNvPicPr>
            <a:picLocks noChangeAspect="1"/>
          </p:cNvPicPr>
          <p:nvPr/>
        </p:nvPicPr>
        <p:blipFill>
          <a:blip r:embed="rId1"/>
          <a:stretch>
            <a:fillRect/>
          </a:stretch>
        </p:blipFill>
        <p:spPr>
          <a:xfrm>
            <a:off x="340088" y="1649730"/>
            <a:ext cx="7837714" cy="457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3173</Words>
  <Application>WPS Presentation</Application>
  <PresentationFormat>On-screen Show (4:3)</PresentationFormat>
  <Paragraphs>46</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Arial</vt:lpstr>
      <vt:lpstr>Calibri</vt:lpstr>
      <vt:lpstr>Microsoft YaHei</vt:lpstr>
      <vt:lpstr>Arial Unicode MS</vt:lpstr>
      <vt:lpstr>Calibri</vt:lpstr>
      <vt:lpstr>Office Theme</vt:lpstr>
      <vt:lpstr>Primary eye care providers refer glaucoma patients </vt:lpstr>
      <vt:lpstr>Demand for eye care is expected to outpace the ophthalmology</vt:lpstr>
      <vt:lpstr>Figure 1 shows the different types of AI support for referra</vt:lpstr>
      <vt:lpstr>Closing the performance gap between the human and AI, for ex</vt:lpstr>
      <vt:lpstr>Studies have demonstrated improved diagnostic accuracy with </vt:lpstr>
      <vt:lpstr>We recorded whether participants completed post-graduate opt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 Engine</dc:creator>
  <dc:description>generated using python-pptx</dc:description>
  <cp:lastModifiedBy>Niharika vv</cp:lastModifiedBy>
  <cp:revision>2</cp:revision>
  <dcterms:created xsi:type="dcterms:W3CDTF">2013-01-27T09:14:00Z</dcterms:created>
  <dcterms:modified xsi:type="dcterms:W3CDTF">2025-11-20T17:14:35Z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14621ED3BA60465EA545B6A9044D0941_12</vt:lpwstr>
  </property>
  <property fmtid="{D5CDD505-2E9C-101B-9397-08002B2CF9AE}" pid="3" name="KSOProductBuildVer">
    <vt:lpwstr>1033-12.2.0.23155</vt:lpwstr>
  </property>
</Properties>
</file>