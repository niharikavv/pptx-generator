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266700"/>
            <a:ext cx="7772400" cy="1470025"/>
          </a:xfrm>
        </p:spPr>
        <p:txBody>
          <a:bodyPr/>
          <a:lstStyle/>
          <a:p>
            <a:r>
              <a:rPr sz="2800" b="1">
                <a:solidFill>
                  <a:srgbClr val="0B5FFF"/>
                </a:solidFill>
                <a:latin typeface="Calibri" panose="020F0502020204030204"/>
              </a:rPr>
              <a:t>Abstract</a:t>
            </a:r>
            <a:endParaRPr sz="2800" b="1">
              <a:solidFill>
                <a:srgbClr val="0B5FFF"/>
              </a:solidFill>
              <a:latin typeface="Calibri" panose="020F0502020204030204"/>
            </a:endParaRPr>
          </a:p>
          <a:p>
            <a:r>
              <a:rPr sz="2800" b="1">
                <a:solidFill>
                  <a:srgbClr val="0B5FFF"/>
                </a:solidFill>
                <a:latin typeface="Calibri" panose="020F0502020204030204"/>
              </a:rPr>
              <a:t>Primary eye care providers refer glaucoma patients </a:t>
            </a:r>
            <a:endParaRPr sz="2800" b="1">
              <a:solidFill>
                <a:srgbClr val="0B5FFF"/>
              </a:solidFill>
              <a:latin typeface="Calibri" panose="020F0502020204030204"/>
            </a:endParaRPr>
          </a:p>
        </p:txBody>
      </p:sp>
      <p:sp>
        <p:nvSpPr>
          <p:cNvPr id="3" name="Subtitle 2"/>
          <p:cNvSpPr>
            <a:spLocks noGrp="1"/>
          </p:cNvSpPr>
          <p:nvPr>
            <p:ph type="subTitle" idx="1"/>
          </p:nvPr>
        </p:nvSpPr>
        <p:spPr/>
        <p:txBody>
          <a:bodyPr/>
          <a:lstStyle/>
          <a:p>
            <a:r>
              <a:rPr lang="en-IN"/>
              <a:t>  </a:t>
            </a:r>
            <a:endParaRPr lang="en-IN"/>
          </a:p>
        </p:txBody>
      </p:sp>
      <p:sp>
        <p:nvSpPr>
          <p:cNvPr id="5" name="Text Box 4"/>
          <p:cNvSpPr txBox="1"/>
          <p:nvPr/>
        </p:nvSpPr>
        <p:spPr>
          <a:xfrm>
            <a:off x="969645" y="2247265"/>
            <a:ext cx="7489190" cy="2837815"/>
          </a:xfrm>
          <a:prstGeom prst="rect">
            <a:avLst/>
          </a:prstGeom>
          <a:noFill/>
        </p:spPr>
        <p:txBody>
          <a:bodyPr wrap="square" rtlCol="0" anchor="t">
            <a:noAutofit/>
          </a:bodyPr>
          <a:p>
            <a:r>
              <a:rPr>
                <a:latin typeface="Calibri" panose="020F0502020204030204"/>
                <a:sym typeface="+mn-ea"/>
              </a:rPr>
              <a:t>This finding challenges the assumption that explanations alongside AI suggestions will improve clinicians’ performance, as observed in previous healthcare AI evaluations27, and underscores the challenges of designing explanations for AI support under knowledge imbalance.</a:t>
            </a:r>
            <a:endParaRPr>
              <a:latin typeface="Calibri" panose="020F0502020204030204"/>
              <a:sym typeface="+mn-ea"/>
            </a:endParaRPr>
          </a:p>
          <a:p>
            <a:endParaRPr lang="en-US">
              <a:latin typeface="Calibri" panose="020F0502020204030204"/>
              <a:sym typeface="+mn-ea"/>
            </a:endParaRPr>
          </a:p>
          <a:p>
            <a:r>
              <a:rPr>
                <a:solidFill>
                  <a:srgbClr val="222222"/>
                </a:solidFill>
                <a:latin typeface="Calibri" panose="020F0502020204030204"/>
                <a:sym typeface="+mn-ea"/>
              </a:rPr>
              <a:t>Optometrists are frontline service providers and a key part of the main screening force for glaucoma, trained to detect visual defects, damage symptoms, and ocular illnesses or abnormalities, and to provide referrals to ophthalmologists or other specialists when necessary6.</a:t>
            </a:r>
            <a:endParaRPr b="0">
              <a:solidFill>
                <a:srgbClr val="222222"/>
              </a:solidFill>
              <a:latin typeface="Calibri" panose="020F0502020204030204"/>
            </a:endParaRPr>
          </a:p>
          <a:p>
            <a:r>
              <a:rPr>
                <a:solidFill>
                  <a:srgbClr val="222222"/>
                </a:solidFill>
                <a:latin typeface="Calibri" panose="020F0502020204030204"/>
                <a:sym typeface="+mn-ea"/>
              </a:rPr>
              <a:t>Their scope of practice includes diagnostic imaging and instrumentation covering both anterior and posterior segments of the eye7.</a:t>
            </a:r>
            <a:endParaRPr b="0">
              <a:solidFill>
                <a:srgbClr val="222222"/>
              </a:solidFill>
              <a:latin typeface="Calibri" panose="020F0502020204030204"/>
            </a:endParaRPr>
          </a:p>
          <a:p>
            <a:endParaRPr lang="en-US">
              <a:latin typeface="Calibri" panose="020F0502020204030204"/>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Glaucoma is a chronic progressive optic neuropathy that can </a:t>
            </a:r>
            <a:endParaRPr sz="2800" b="1">
              <a:solidFill>
                <a:srgbClr val="0B5FFF"/>
              </a:solidFill>
              <a:latin typeface="Calibri" panose="020F0502020204030204"/>
            </a:endParaRPr>
          </a:p>
        </p:txBody>
      </p:sp>
      <p:sp>
        <p:nvSpPr>
          <p:cNvPr id="3" name="Content Placeholder 2"/>
          <p:cNvSpPr>
            <a:spLocks noGrp="1"/>
          </p:cNvSpPr>
          <p:nvPr>
            <p:ph idx="1"/>
          </p:nvPr>
        </p:nvSpPr>
        <p:spPr/>
        <p:txBody>
          <a:bodyPr/>
          <a:lstStyle/>
          <a:p>
            <a:r>
              <a:rPr sz="1800" b="0">
                <a:solidFill>
                  <a:srgbClr val="222222"/>
                </a:solidFill>
                <a:latin typeface="Calibri" panose="020F0502020204030204"/>
              </a:rPr>
              <a:t>Glaucoma is a chronic progressive optic neuropathy that can cause vision loss and blindness by damaging the optic nerve head (ONH) and retinal nerve fiber layer (RNFL).</a:t>
            </a:r>
            <a:endParaRPr sz="1800" b="0">
              <a:solidFill>
                <a:srgbClr val="222222"/>
              </a:solidFill>
              <a:latin typeface="Calibri" panose="020F0502020204030204"/>
            </a:endParaRPr>
          </a:p>
          <a:p>
            <a:r>
              <a:rPr sz="1800" b="0">
                <a:solidFill>
                  <a:srgbClr val="222222"/>
                </a:solidFill>
                <a:latin typeface="Calibri" panose="020F0502020204030204"/>
              </a:rPr>
              <a:t>This condition encompasses multiple subtypes, with open-angle glaucoma being the most common form.</a:t>
            </a:r>
            <a:endParaRPr sz="1800" b="0">
              <a:solidFill>
                <a:srgbClr val="222222"/>
              </a:solidFill>
              <a:latin typeface="Calibri" panose="020F0502020204030204"/>
            </a:endParaRPr>
          </a:p>
          <a:p>
            <a:r>
              <a:rPr sz="1800" b="0">
                <a:solidFill>
                  <a:srgbClr val="222222"/>
                </a:solidFill>
                <a:latin typeface="Calibri" panose="020F0502020204030204"/>
              </a:rPr>
              <a:t>It is often associated with elevated intraocular pressure due to impaired fluid drainage, although damage can also occur at normal pressures; vision loss typically begins peripherally, progresses silently over time and cannot be recovered.</a:t>
            </a:r>
            <a:endParaRPr sz="1800" b="0">
              <a:solidFill>
                <a:srgbClr val="222222"/>
              </a:solidFill>
              <a:latin typeface="Calibri" panose="020F0502020204030204"/>
            </a:endParaRPr>
          </a:p>
          <a:p>
            <a:r>
              <a:rPr sz="1800" b="0">
                <a:solidFill>
                  <a:srgbClr val="222222"/>
                </a:solidFill>
                <a:latin typeface="Calibri" panose="020F0502020204030204"/>
              </a:rPr>
              <a:t>Glaucoma assessment and progression monitoring relies on multiple sources of data that include measurements of intraocular pressure (IOP), visual function via visual field (VF) tests, and ONH changes via optical coherence tomography (OCT)1.</a:t>
            </a:r>
            <a:endParaRPr sz="1800" b="0">
              <a:solidFill>
                <a:srgbClr val="222222"/>
              </a:solidFill>
              <a:latin typeface="Calibri" panose="020F0502020204030204"/>
            </a:endParaRPr>
          </a:p>
          <a:p>
            <a:r>
              <a:rPr sz="1800" b="0">
                <a:solidFill>
                  <a:srgbClr val="222222"/>
                </a:solidFill>
                <a:latin typeface="Calibri" panose="020F0502020204030204"/>
              </a:rPr>
              <a:t>Because structural and functional damage coexist in glaucoma but may not occur at the same time3, clinicians tend to interpret both sources of data when managing glaucoma suspects of patients with glaucoma.</a:t>
            </a:r>
            <a:endParaRPr sz="1800" b="0">
              <a:solidFill>
                <a:srgbClr val="222222"/>
              </a:solidFill>
              <a:latin typeface="Calibri" panose="020F0502020204030204"/>
            </a:endParaRPr>
          </a:p>
          <a:p>
            <a:r>
              <a:rPr sz="1800" b="0">
                <a:solidFill>
                  <a:srgbClr val="222222"/>
                </a:solidFill>
                <a:latin typeface="Calibri" panose="020F0502020204030204"/>
              </a:rPr>
              <a:t>Given the complex interplay of structural and functional changes and the variability within the disease diagnosis, specialized clinical interpretation is required to synthesize this complementary information.</a:t>
            </a:r>
            <a:endParaRPr sz="1800" b="0">
              <a:solidFill>
                <a:srgbClr val="222222"/>
              </a:solidFill>
              <a:latin typeface="Calibri" panose="020F0502020204030204"/>
            </a:endParaRPr>
          </a:p>
          <a:p>
            <a:endParaRPr sz="1800" b="0">
              <a:solidFill>
                <a:srgbClr val="222222"/>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Despite this broad clinical capacity, studies have shown con</a:t>
            </a:r>
            <a:endParaRPr sz="2800" b="1">
              <a:solidFill>
                <a:srgbClr val="0B5FFF"/>
              </a:solidFill>
              <a:latin typeface="Calibri" panose="020F0502020204030204"/>
            </a:endParaRPr>
          </a:p>
        </p:txBody>
      </p:sp>
      <p:sp>
        <p:nvSpPr>
          <p:cNvPr id="3" name="Content Placeholder 2"/>
          <p:cNvSpPr>
            <a:spLocks noGrp="1"/>
          </p:cNvSpPr>
          <p:nvPr>
            <p:ph sz="half" idx="1"/>
          </p:nvPr>
        </p:nvSpPr>
        <p:spPr/>
        <p:txBody>
          <a:bodyPr/>
          <a:lstStyle/>
          <a:p>
            <a:r>
              <a:rPr sz="1800" b="0">
                <a:latin typeface="Calibri" panose="020F0502020204030204"/>
              </a:rPr>
              <a:t>Despite this broad clinical capacity, studies have shown considerable variability in how optometrists screen for glaucoma6,8,9, reflecting differences in protocols, thresholds, and referral practices.</a:t>
            </a:r>
            <a:endParaRPr sz="1800" b="0">
              <a:latin typeface="Calibri" panose="020F0502020204030204"/>
            </a:endParaRPr>
          </a:p>
          <a:p>
            <a:r>
              <a:rPr sz="1800" b="0">
                <a:latin typeface="Calibri" panose="020F0502020204030204"/>
              </a:rPr>
              <a:t>While ophthalmologists are equipped to manage and treat advanced eye disease, including surgical interventions, many do not undergo additional fellowship training in glaucoma care specifically10.</a:t>
            </a:r>
            <a:endParaRPr sz="1800" b="0">
              <a:latin typeface="Calibri" panose="020F0502020204030204"/>
            </a:endParaRPr>
          </a:p>
          <a:p>
            <a:r>
              <a:rPr sz="1800" b="0">
                <a:latin typeface="Calibri" panose="020F0502020204030204"/>
              </a:rPr>
              <a:t>As eye care delivery continues to adapt to rising demand and technological advancement, artificial intelligence (AI) through data-driven decision support tools may be a key enabler to empower these providers to make more informed, timely and accurate referral decisions.</a:t>
            </a:r>
            <a:endParaRPr sz="1800" b="0">
              <a:latin typeface="Calibri" panose="020F0502020204030204"/>
            </a:endParaRPr>
          </a:p>
          <a:p>
            <a:r>
              <a:rPr sz="1800" b="0">
                <a:latin typeface="Calibri" panose="020F0502020204030204"/>
              </a:rPr>
              <a:t>Introducing AI creates various issues: On the one hand, specialist AI may be precisely tailored for glaucoma referral tasks and achieve high performance.</a:t>
            </a:r>
            <a:endParaRPr sz="1800" b="0">
              <a:latin typeface="Calibri" panose="020F0502020204030204"/>
            </a:endParaRPr>
          </a:p>
          <a:p>
            <a:r>
              <a:rPr sz="1800" b="0">
                <a:latin typeface="Calibri" panose="020F0502020204030204"/>
              </a:rPr>
              <a:t>On the other hand, while the AI may handle multimodal data11, including VF and OCT, AI models only process a subset of all available data and context due to rigid problem formulations.</a:t>
            </a:r>
            <a:endParaRPr sz="1800" b="0">
              <a:latin typeface="Calibri" panose="020F0502020204030204"/>
            </a:endParaRPr>
          </a:p>
          <a:p>
            <a:r>
              <a:rPr sz="1800" b="0">
                <a:latin typeface="Calibri" panose="020F0502020204030204"/>
              </a:rPr>
              <a:t>Further, machine and deep learning-based AI, most commonly used in contemporary AI, can exploit spurious correlations, ignore task-relevant features, or learn data shortcuts12, leading to AI-specific mistakes a human would be highly unlikely to make.</a:t>
            </a:r>
            <a:endParaRPr sz="1800" b="0">
              <a:latin typeface="Calibri" panose="020F0502020204030204"/>
            </a:endParaRPr>
          </a:p>
        </p:txBody>
      </p:sp>
      <p:sp>
        <p:nvSpPr>
          <p:cNvPr id="4" name="Content Placeholder 3"/>
          <p:cNvSpPr>
            <a:spLocks noGrp="1"/>
          </p:cNvSpPr>
          <p:nvPr>
            <p:ph sz="half" idx="2"/>
          </p:nvPr>
        </p:nvSpPr>
        <p:spPr/>
        <p:txBody>
          <a:bodyPr/>
          <a:lstStyle/>
          <a:p>
            <a:r>
              <a:rPr sz="1800" b="0">
                <a:latin typeface="Calibri" panose="020F0502020204030204"/>
              </a:rPr>
              <a:t>Indeed, primary eye care providers excel in common sense reasoning, understand the pathophysiology of ocular diseases, and have experience managing a range of eye conditions13, making them robust to statistical fallacies and other unexpected behaviors AI may fall victim to.</a:t>
            </a:r>
            <a:endParaRPr sz="1800" b="0">
              <a:latin typeface="Calibri" panose="020F0502020204030204"/>
            </a:endParaRPr>
          </a:p>
          <a:p>
            <a:r>
              <a:rPr sz="1800" b="0">
                <a:latin typeface="Calibri" panose="020F0502020204030204"/>
              </a:rPr>
              <a:t>However, on their own, providers may not perform at a similar level to task-trained AI, allowing for improvements in the human-AI team performance by leveraging AI support to incorporate insights from specialists and identify patterns not quickly apparent during a patient encounter.</a:t>
            </a:r>
            <a:endParaRPr sz="1800" b="0">
              <a:latin typeface="Calibri" panose="020F0502020204030204"/>
            </a:endParaRPr>
          </a:p>
          <a:p>
            <a:r>
              <a:rPr sz="1800" b="0">
                <a:latin typeface="Calibri" panose="020F0502020204030204"/>
              </a:rPr>
              <a:t>This scenario of specialist AI aiming to support generalist providers in enhancing decision-making then creates a knowledge imbalance.</a:t>
            </a:r>
            <a:endParaRPr sz="1800" b="0">
              <a:latin typeface="Calibri" panose="020F0502020204030204"/>
            </a:endParaRPr>
          </a:p>
          <a:p>
            <a:r>
              <a:rPr sz="1800" b="0">
                <a:latin typeface="Calibri" panose="020F0502020204030204"/>
              </a:rPr>
              <a:t>Designing AI for effective collaboration in knowledge imbalance scenarios presents challenges like communication barriers, trust, and coordination14.</a:t>
            </a:r>
            <a:endParaRPr sz="1800" b="0">
              <a:latin typeface="Calibri" panose="020F0502020204030204"/>
            </a:endParaRPr>
          </a:p>
          <a:p>
            <a:r>
              <a:rPr sz="1800" b="0">
                <a:latin typeface="Calibri" panose="020F0502020204030204"/>
              </a:rPr>
              <a:t>For instance, when humans perform worse than AI, they often struggle to determine when to trust the algorithm or rely on their judgment, leading to lower overall performance than AI alone.</a:t>
            </a:r>
            <a:endParaRPr sz="1800" b="0">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To investigate this potential, we envision a human-AI teamin</a:t>
            </a:r>
            <a:endParaRPr sz="2800" b="1">
              <a:solidFill>
                <a:srgbClr val="0B5FFF"/>
              </a:solidFill>
              <a:latin typeface="Calibri" panose="020F0502020204030204"/>
            </a:endParaRPr>
          </a:p>
        </p:txBody>
      </p:sp>
      <p:sp>
        <p:nvSpPr>
          <p:cNvPr id="3" name="Content Placeholder 2"/>
          <p:cNvSpPr>
            <a:spLocks noGrp="1"/>
          </p:cNvSpPr>
          <p:nvPr>
            <p:ph idx="1"/>
          </p:nvPr>
        </p:nvSpPr>
        <p:spPr/>
        <p:txBody>
          <a:bodyPr/>
          <a:lstStyle/>
          <a:p>
            <a:r>
              <a:rPr sz="1800" b="0">
                <a:solidFill>
                  <a:srgbClr val="222222"/>
                </a:solidFill>
                <a:latin typeface="Calibri" panose="020F0502020204030204"/>
              </a:rPr>
              <a:t>To investigate this potential, we envision a human-AI teaming experience that assists providers with referral decisions by offering AI recommendations with explanations based on a suite of XAI algorithms that predict the need for glaucoma surgery and determine referral urgency from routine eye care data.</a:t>
            </a:r>
            <a:endParaRPr sz="1800" b="0">
              <a:solidFill>
                <a:srgbClr val="222222"/>
              </a:solidFill>
              <a:latin typeface="Calibri" panose="020F0502020204030204"/>
            </a:endParaRPr>
          </a:p>
          <a:p>
            <a:r>
              <a:rPr sz="1800" b="0">
                <a:solidFill>
                  <a:srgbClr val="222222"/>
                </a:solidFill>
                <a:latin typeface="Calibri" panose="020F0502020204030204"/>
              </a:rPr>
              <a:t>We incorporated explainability into a Vision Transformer model in a post-hoc manner by computing local feature contributions.</a:t>
            </a:r>
            <a:endParaRPr sz="1800" b="0">
              <a:solidFill>
                <a:srgbClr val="222222"/>
              </a:solidFill>
              <a:latin typeface="Calibri" panose="020F0502020204030204"/>
            </a:endParaRPr>
          </a:p>
          <a:p>
            <a:r>
              <a:rPr sz="1800" b="0">
                <a:solidFill>
                  <a:srgbClr val="222222"/>
                </a:solidFill>
                <a:latin typeface="Calibri" panose="020F0502020204030204"/>
              </a:rPr>
              <a:t>Intrinsic explainability was provided by a risk scorecard model, which broke down the predicted urgency score.</a:t>
            </a:r>
            <a:endParaRPr sz="1800" b="0">
              <a:solidFill>
                <a:srgbClr val="222222"/>
              </a:solidFill>
              <a:latin typeface="Calibri" panose="020F0502020204030204"/>
            </a:endParaRPr>
          </a:p>
          <a:p>
            <a:r>
              <a:rPr sz="1800" b="0">
                <a:solidFill>
                  <a:srgbClr val="222222"/>
                </a:solidFill>
                <a:latin typeface="Calibri" panose="020F0502020204030204"/>
              </a:rPr>
              <a:t>Figure 1 shows the different types of AI support for referrals.</a:t>
            </a:r>
            <a:endParaRPr sz="1800" b="0">
              <a:solidFill>
                <a:srgbClr val="222222"/>
              </a:solidFill>
              <a:latin typeface="Calibri" panose="020F0502020204030204"/>
            </a:endParaRPr>
          </a:p>
          <a:p>
            <a:r>
              <a:rPr sz="1800" b="0">
                <a:solidFill>
                  <a:srgbClr val="222222"/>
                </a:solidFill>
                <a:latin typeface="Calibri" panose="020F0502020204030204"/>
              </a:rPr>
              <a:t>On a test set of 500 patients, our black-box post-hoc and intrinsically explainable models achieved an accuracy of 76% and 71%, respectively, in predicting referral urgency.</a:t>
            </a:r>
            <a:endParaRPr sz="1800" b="0">
              <a:solidFill>
                <a:srgbClr val="222222"/>
              </a:solidFill>
              <a:latin typeface="Calibri" panose="020F0502020204030204"/>
            </a:endParaRPr>
          </a:p>
          <a:p>
            <a:r>
              <a:rPr sz="1800" b="0">
                <a:solidFill>
                  <a:srgbClr val="222222"/>
                </a:solidFill>
                <a:latin typeface="Calibri" panose="020F0502020204030204"/>
              </a:rPr>
              <a:t>Through a user study with 87 optometrists, we explored how AI support, both with and without explanations, influences human behavior, performance, and perception in assessing the urgency of glaucoma referrals compared to an unassisted condition.</a:t>
            </a:r>
            <a:endParaRPr sz="1800" b="0">
              <a:solidFill>
                <a:srgbClr val="222222"/>
              </a:solidFill>
              <a:latin typeface="Calibri" panose="020F0502020204030204"/>
            </a:endParaRPr>
          </a:p>
          <a:p>
            <a:endParaRPr sz="1800" b="0">
              <a:solidFill>
                <a:srgbClr val="222222"/>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rPr sz="2800" b="1">
                <a:solidFill>
                  <a:srgbClr val="0B5FFF"/>
                </a:solidFill>
                <a:latin typeface="Calibri" panose="020F0502020204030204"/>
              </a:rPr>
              <a:t>Participants also made fewer adjustments to AI-suggested ref</a:t>
            </a:r>
            <a:endParaRPr sz="2800" b="1">
              <a:solidFill>
                <a:srgbClr val="0B5FFF"/>
              </a:solidFill>
              <a:latin typeface="Calibri" panose="020F0502020204030204"/>
            </a:endParaRPr>
          </a:p>
        </p:txBody>
      </p:sp>
      <p:sp>
        <p:nvSpPr>
          <p:cNvPr id="3" name="Subtitle 2"/>
          <p:cNvSpPr>
            <a:spLocks noGrp="1"/>
          </p:cNvSpPr>
          <p:nvPr>
            <p:ph type="subTitle" idx="1"/>
          </p:nvPr>
        </p:nvSpPr>
        <p:spPr/>
        <p:txBody>
          <a:bodyPr/>
          <a:lstStyle/>
          <a:p/>
        </p:txBody>
      </p:sp>
      <p:pic>
        <p:nvPicPr>
          <p:cNvPr id="4" name="Picture 3" descr="auto_chart_1763658548_4.png"/>
          <p:cNvPicPr>
            <a:picLocks noChangeAspect="1"/>
          </p:cNvPicPr>
          <p:nvPr/>
        </p:nvPicPr>
        <p:blipFill>
          <a:blip r:embed="rId1"/>
          <a:stretch>
            <a:fillRect/>
          </a:stretch>
        </p:blipFill>
        <p:spPr>
          <a:xfrm>
            <a:off x="457200" y="1371600"/>
            <a:ext cx="8229600" cy="4114800"/>
          </a:xfrm>
          <a:prstGeom prst="rect">
            <a:avLst/>
          </a:prstGeom>
        </p:spPr>
      </p:pic>
      <p:sp>
        <p:nvSpPr>
          <p:cNvPr id="5" name="TextBox 4"/>
          <p:cNvSpPr txBox="1"/>
          <p:nvPr/>
        </p:nvSpPr>
        <p:spPr>
          <a:xfrm>
            <a:off x="914400" y="5120640"/>
            <a:ext cx="7315200" cy="457200"/>
          </a:xfrm>
          <a:prstGeom prst="rect">
            <a:avLst/>
          </a:prstGeom>
          <a:noFill/>
        </p:spPr>
        <p:txBody>
          <a:bodyPr wrap="none">
            <a:spAutoFit/>
          </a:bodyPr>
          <a:lstStyle/>
          <a:p>
            <a:r>
              <a:rPr sz="1600" b="0">
                <a:solidFill>
                  <a:srgbClr val="222222"/>
                </a:solidFill>
                <a:latin typeface="Calibri" panose="020F0502020204030204"/>
              </a:rPr>
              <a:t>Auto-generated chart</a:t>
            </a:r>
            <a:endParaRPr sz="1600" b="0">
              <a:solidFill>
                <a:srgbClr val="222222"/>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An important consideration is that users with different leve</a:t>
            </a:r>
            <a:endParaRPr sz="2800" b="1">
              <a:solidFill>
                <a:srgbClr val="0B5FFF"/>
              </a:solidFill>
              <a:latin typeface="Calibri" panose="020F0502020204030204"/>
            </a:endParaRPr>
          </a:p>
        </p:txBody>
      </p:sp>
      <p:sp>
        <p:nvSpPr>
          <p:cNvPr id="3" name="Text Placeholder 2"/>
          <p:cNvSpPr>
            <a:spLocks noGrp="1"/>
          </p:cNvSpPr>
          <p:nvPr>
            <p:ph type="body" idx="1"/>
          </p:nvPr>
        </p:nvSpPr>
        <p:spPr/>
        <p:txBody>
          <a:bodyPr/>
          <a:lstStyle/>
          <a:p/>
        </p:txBody>
      </p:sp>
      <p:sp>
        <p:nvSpPr>
          <p:cNvPr id="4" name="Content Placeholder 3"/>
          <p:cNvSpPr>
            <a:spLocks noGrp="1"/>
          </p:cNvSpPr>
          <p:nvPr>
            <p:ph sz="half" idx="2"/>
          </p:nvPr>
        </p:nvSpPr>
        <p:spPr/>
        <p:txBody>
          <a:bodyPr/>
          <a:lstStyle/>
          <a:p/>
        </p:txBody>
      </p:sp>
      <p:sp>
        <p:nvSpPr>
          <p:cNvPr id="5" name="Text Placeholder 4"/>
          <p:cNvSpPr>
            <a:spLocks noGrp="1"/>
          </p:cNvSpPr>
          <p:nvPr>
            <p:ph type="body" sz="quarter" idx="3"/>
          </p:nvPr>
        </p:nvSpPr>
        <p:spPr/>
        <p:txBody>
          <a:bodyPr/>
          <a:lstStyle/>
          <a:p/>
        </p:txBody>
      </p:sp>
      <p:sp>
        <p:nvSpPr>
          <p:cNvPr id="6" name="Content Placeholder 5"/>
          <p:cNvSpPr>
            <a:spLocks noGrp="1"/>
          </p:cNvSpPr>
          <p:nvPr>
            <p:ph sz="quarter" idx="4"/>
          </p:nvPr>
        </p:nvSpPr>
        <p:spPr/>
        <p:txBody>
          <a:bodyPr/>
          <a:lstStyle/>
          <a:p/>
        </p:txBody>
      </p:sp>
      <p:pic>
        <p:nvPicPr>
          <p:cNvPr id="7" name="Picture 6" descr="auto_image_1763658548_5.png"/>
          <p:cNvPicPr>
            <a:picLocks noChangeAspect="1"/>
          </p:cNvPicPr>
          <p:nvPr/>
        </p:nvPicPr>
        <p:blipFill>
          <a:blip r:embed="rId1"/>
          <a:stretch>
            <a:fillRect/>
          </a:stretch>
        </p:blipFill>
        <p:spPr>
          <a:xfrm>
            <a:off x="653143" y="1143000"/>
            <a:ext cx="7837714" cy="45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Our study design also constrained the breadth of clinical in</a:t>
            </a:r>
            <a:endParaRPr sz="2800" b="1">
              <a:solidFill>
                <a:srgbClr val="0B5FFF"/>
              </a:solidFill>
              <a:latin typeface="Calibri" panose="020F0502020204030204"/>
            </a:endParaRPr>
          </a:p>
        </p:txBody>
      </p:sp>
      <p:sp>
        <p:nvSpPr>
          <p:cNvPr id="3" name="Content Placeholder 2"/>
          <p:cNvSpPr>
            <a:spLocks noGrp="1"/>
          </p:cNvSpPr>
          <p:nvPr>
            <p:ph idx="1"/>
          </p:nvPr>
        </p:nvSpPr>
        <p:spPr/>
        <p:txBody>
          <a:bodyPr/>
          <a:lstStyle/>
          <a:p>
            <a:r>
              <a:rPr sz="1800" b="0">
                <a:solidFill>
                  <a:srgbClr val="222222"/>
                </a:solidFill>
                <a:latin typeface="Calibri" panose="020F0502020204030204"/>
              </a:rPr>
              <a:t>Our study design also constrained the breadth of clinical information available to participants.</a:t>
            </a:r>
            <a:endParaRPr sz="1800" b="0">
              <a:solidFill>
                <a:srgbClr val="222222"/>
              </a:solidFill>
              <a:latin typeface="Calibri" panose="020F0502020204030204"/>
            </a:endParaRPr>
          </a:p>
          <a:p>
            <a:r>
              <a:rPr sz="1800" b="0">
                <a:solidFill>
                  <a:srgbClr val="222222"/>
                </a:solidFill>
                <a:latin typeface="Calibri" panose="020F0502020204030204"/>
              </a:rPr>
              <a:t>Future work should explore incorporating additional parameters that may enhance human, AI, or human-AI performance, including family history and alternative imaging modalities such as anterior segment OCT that reveal complementary indicators, and provide more realistic contexts for referrals.</a:t>
            </a:r>
            <a:endParaRPr sz="1800" b="0">
              <a:solidFill>
                <a:srgbClr val="222222"/>
              </a:solidFill>
              <a:latin typeface="Calibri" panose="020F0502020204030204"/>
            </a:endParaRPr>
          </a:p>
          <a:p>
            <a:r>
              <a:rPr sz="1800" b="0">
                <a:solidFill>
                  <a:srgbClr val="222222"/>
                </a:solidFill>
                <a:latin typeface="Calibri" panose="020F0502020204030204"/>
              </a:rPr>
              <a:t>This expanded information landscape could enable different interaction paradigms between humans and AI where AI systems process narrow diagnostic context while clinicians access comprehensive clinical data, fostering a complementary distribution of knowledge.</a:t>
            </a:r>
            <a:endParaRPr sz="1800" b="0">
              <a:solidFill>
                <a:srgbClr val="222222"/>
              </a:solidFill>
              <a:latin typeface="Calibri" panose="020F0502020204030204"/>
            </a:endParaRPr>
          </a:p>
          <a:p>
            <a:r>
              <a:rPr sz="1800" b="0">
                <a:solidFill>
                  <a:srgbClr val="222222"/>
                </a:solidFill>
                <a:latin typeface="Calibri" panose="020F0502020204030204"/>
              </a:rPr>
              <a:t>Given the persistent knowledge imbalance challenges, future works should expand beyond explanations to explore alternative support mechanisms and their effective communication, while validating this approach through multi-center studies with diverse patient populations.</a:t>
            </a:r>
            <a:endParaRPr sz="1800" b="0">
              <a:solidFill>
                <a:srgbClr val="222222"/>
              </a:solidFill>
              <a:latin typeface="Calibri" panose="020F0502020204030204"/>
            </a:endParaRPr>
          </a:p>
          <a:p>
            <a:endParaRPr sz="1800" b="0">
              <a:solidFill>
                <a:srgbClr val="222222"/>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Positive impressions toward integrating AI support for breas</a:t>
            </a:r>
            <a:endParaRPr sz="2800" b="1">
              <a:solidFill>
                <a:srgbClr val="0B5FFF"/>
              </a:solidFill>
              <a:latin typeface="Calibri" panose="020F0502020204030204"/>
            </a:endParaRPr>
          </a:p>
        </p:txBody>
      </p:sp>
      <p:sp>
        <p:nvSpPr>
          <p:cNvPr id="3" name="Text Placeholder 2"/>
          <p:cNvSpPr>
            <a:spLocks noGrp="1"/>
          </p:cNvSpPr>
          <p:nvPr>
            <p:ph type="body" idx="1"/>
          </p:nvPr>
        </p:nvSpPr>
        <p:spPr/>
        <p:txBody>
          <a:bodyPr/>
          <a:lstStyle/>
          <a:p/>
        </p:txBody>
      </p:sp>
      <p:sp>
        <p:nvSpPr>
          <p:cNvPr id="4" name="Content Placeholder 3"/>
          <p:cNvSpPr>
            <a:spLocks noGrp="1"/>
          </p:cNvSpPr>
          <p:nvPr>
            <p:ph sz="half" idx="2"/>
          </p:nvPr>
        </p:nvSpPr>
        <p:spPr/>
        <p:txBody>
          <a:bodyPr/>
          <a:lstStyle/>
          <a:p/>
        </p:txBody>
      </p:sp>
      <p:sp>
        <p:nvSpPr>
          <p:cNvPr id="5" name="Text Placeholder 4"/>
          <p:cNvSpPr>
            <a:spLocks noGrp="1"/>
          </p:cNvSpPr>
          <p:nvPr>
            <p:ph type="body" sz="quarter" idx="3"/>
          </p:nvPr>
        </p:nvSpPr>
        <p:spPr/>
        <p:txBody>
          <a:bodyPr/>
          <a:lstStyle/>
          <a:p/>
        </p:txBody>
      </p:sp>
      <p:sp>
        <p:nvSpPr>
          <p:cNvPr id="6" name="Content Placeholder 5"/>
          <p:cNvSpPr>
            <a:spLocks noGrp="1"/>
          </p:cNvSpPr>
          <p:nvPr>
            <p:ph sz="quarter" idx="4"/>
          </p:nvPr>
        </p:nvSpPr>
        <p:spPr/>
        <p:txBody>
          <a:bodyPr/>
          <a:lstStyle/>
          <a:p/>
        </p:txBody>
      </p:sp>
      <p:pic>
        <p:nvPicPr>
          <p:cNvPr id="7" name="Picture 6" descr="auto_image_1763658548_7.png"/>
          <p:cNvPicPr>
            <a:picLocks noChangeAspect="1"/>
          </p:cNvPicPr>
          <p:nvPr/>
        </p:nvPicPr>
        <p:blipFill>
          <a:blip r:embed="rId1"/>
          <a:stretch>
            <a:fillRect/>
          </a:stretch>
        </p:blipFill>
        <p:spPr>
          <a:xfrm>
            <a:off x="653143" y="1143000"/>
            <a:ext cx="7837714" cy="4572000"/>
          </a:xfrm>
          <a:prstGeom prst="rect">
            <a:avLst/>
          </a:prstGeom>
        </p:spPr>
      </p:pic>
      <p:pic>
        <p:nvPicPr>
          <p:cNvPr id="8" name="Picture 7" descr="math_1763658548_2.png"/>
          <p:cNvPicPr>
            <a:picLocks noChangeAspect="1"/>
          </p:cNvPicPr>
          <p:nvPr/>
        </p:nvPicPr>
        <p:blipFill>
          <a:blip r:embed="rId2"/>
          <a:stretch>
            <a:fillRect/>
          </a:stretch>
        </p:blipFill>
        <p:spPr>
          <a:xfrm>
            <a:off x="1828800" y="2571127"/>
            <a:ext cx="5486400" cy="17157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rPr sz="2800" b="1">
                <a:solidFill>
                  <a:srgbClr val="0B5FFF"/>
                </a:solidFill>
                <a:latin typeface="Calibri" panose="020F0502020204030204"/>
              </a:rPr>
              <a:t>Each participant experienced all four conditions following a</a:t>
            </a:r>
            <a:endParaRPr sz="2800" b="1">
              <a:solidFill>
                <a:srgbClr val="0B5FFF"/>
              </a:solidFill>
              <a:latin typeface="Calibri" panose="020F0502020204030204"/>
            </a:endParaRPr>
          </a:p>
        </p:txBody>
      </p:sp>
      <p:sp>
        <p:nvSpPr>
          <p:cNvPr id="3" name="Subtitle 2"/>
          <p:cNvSpPr>
            <a:spLocks noGrp="1"/>
          </p:cNvSpPr>
          <p:nvPr>
            <p:ph type="subTitle" idx="1"/>
          </p:nvPr>
        </p:nvSpPr>
        <p:spPr/>
        <p:txBody>
          <a:bodyPr/>
          <a:lstStyle/>
          <a:p/>
        </p:txBody>
      </p:sp>
      <p:pic>
        <p:nvPicPr>
          <p:cNvPr id="4" name="Picture 3" descr="auto_chart_1763658548_8.png"/>
          <p:cNvPicPr>
            <a:picLocks noChangeAspect="1"/>
          </p:cNvPicPr>
          <p:nvPr/>
        </p:nvPicPr>
        <p:blipFill>
          <a:blip r:embed="rId1"/>
          <a:stretch>
            <a:fillRect/>
          </a:stretch>
        </p:blipFill>
        <p:spPr>
          <a:xfrm>
            <a:off x="457200" y="1371600"/>
            <a:ext cx="8229600" cy="4114800"/>
          </a:xfrm>
          <a:prstGeom prst="rect">
            <a:avLst/>
          </a:prstGeom>
        </p:spPr>
      </p:pic>
      <p:sp>
        <p:nvSpPr>
          <p:cNvPr id="5" name="TextBox 4"/>
          <p:cNvSpPr txBox="1"/>
          <p:nvPr/>
        </p:nvSpPr>
        <p:spPr>
          <a:xfrm>
            <a:off x="914400" y="5120640"/>
            <a:ext cx="7315200" cy="457200"/>
          </a:xfrm>
          <a:prstGeom prst="rect">
            <a:avLst/>
          </a:prstGeom>
          <a:noFill/>
        </p:spPr>
        <p:txBody>
          <a:bodyPr wrap="none">
            <a:spAutoFit/>
          </a:bodyPr>
          <a:lstStyle/>
          <a:p>
            <a:r>
              <a:rPr sz="1600" b="0">
                <a:solidFill>
                  <a:srgbClr val="222222"/>
                </a:solidFill>
                <a:latin typeface="Calibri" panose="020F0502020204030204"/>
              </a:rPr>
              <a:t>Auto-generated chart</a:t>
            </a:r>
            <a:endParaRPr sz="1600" b="0">
              <a:solidFill>
                <a:srgbClr val="222222"/>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2800" b="1">
                <a:solidFill>
                  <a:srgbClr val="0B5FFF"/>
                </a:solidFill>
                <a:latin typeface="Calibri" panose="020F0502020204030204"/>
              </a:rPr>
              <a:t>Agreement with AI reflects the percentage of cases in which </a:t>
            </a:r>
            <a:endParaRPr sz="2800" b="1">
              <a:solidFill>
                <a:srgbClr val="0B5FFF"/>
              </a:solidFill>
              <a:latin typeface="Calibri" panose="020F0502020204030204"/>
            </a:endParaRPr>
          </a:p>
        </p:txBody>
      </p:sp>
      <p:sp>
        <p:nvSpPr>
          <p:cNvPr id="3" name="Text Placeholder 2"/>
          <p:cNvSpPr>
            <a:spLocks noGrp="1"/>
          </p:cNvSpPr>
          <p:nvPr>
            <p:ph type="body" idx="1"/>
          </p:nvPr>
        </p:nvSpPr>
        <p:spPr/>
        <p:txBody>
          <a:bodyPr/>
          <a:lstStyle/>
          <a:p/>
        </p:txBody>
      </p:sp>
      <p:sp>
        <p:nvSpPr>
          <p:cNvPr id="4" name="Content Placeholder 3"/>
          <p:cNvSpPr>
            <a:spLocks noGrp="1"/>
          </p:cNvSpPr>
          <p:nvPr>
            <p:ph sz="half" idx="2"/>
          </p:nvPr>
        </p:nvSpPr>
        <p:spPr/>
        <p:txBody>
          <a:bodyPr/>
          <a:lstStyle/>
          <a:p/>
        </p:txBody>
      </p:sp>
      <p:sp>
        <p:nvSpPr>
          <p:cNvPr id="5" name="Text Placeholder 4"/>
          <p:cNvSpPr>
            <a:spLocks noGrp="1"/>
          </p:cNvSpPr>
          <p:nvPr>
            <p:ph type="body" sz="quarter" idx="3"/>
          </p:nvPr>
        </p:nvSpPr>
        <p:spPr/>
        <p:txBody>
          <a:bodyPr/>
          <a:lstStyle/>
          <a:p/>
        </p:txBody>
      </p:sp>
      <p:sp>
        <p:nvSpPr>
          <p:cNvPr id="6" name="Content Placeholder 5"/>
          <p:cNvSpPr>
            <a:spLocks noGrp="1"/>
          </p:cNvSpPr>
          <p:nvPr>
            <p:ph sz="quarter" idx="4"/>
          </p:nvPr>
        </p:nvSpPr>
        <p:spPr/>
        <p:txBody>
          <a:bodyPr/>
          <a:lstStyle/>
          <a:p/>
        </p:txBody>
      </p:sp>
      <p:pic>
        <p:nvPicPr>
          <p:cNvPr id="7" name="Picture 6" descr="auto_image_1763658548_9.png"/>
          <p:cNvPicPr>
            <a:picLocks noChangeAspect="1"/>
          </p:cNvPicPr>
          <p:nvPr/>
        </p:nvPicPr>
        <p:blipFill>
          <a:blip r:embed="rId1"/>
          <a:stretch>
            <a:fillRect/>
          </a:stretch>
        </p:blipFill>
        <p:spPr>
          <a:xfrm>
            <a:off x="653143" y="1143000"/>
            <a:ext cx="7837714"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6694</Words>
  <Application>WPS Presentation</Application>
  <PresentationFormat>On-screen Show (4:3)</PresentationFormat>
  <Paragraphs>68</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Calibri</vt:lpstr>
      <vt:lpstr>Microsoft YaHei</vt:lpstr>
      <vt:lpstr>Arial Unicode MS</vt:lpstr>
      <vt:lpstr>Calibri</vt:lpstr>
      <vt:lpstr>Office Theme</vt:lpstr>
      <vt:lpstr>Primary eye care providers refer glaucoma patients </vt:lpstr>
      <vt:lpstr>Glaucoma is a chronic progressive optic neuropathy that can </vt:lpstr>
      <vt:lpstr>Despite this broad clinical capacity, studies have shown con</vt:lpstr>
      <vt:lpstr>To investigate this potential, we envision a human-AI teamin</vt:lpstr>
      <vt:lpstr>Participants also made fewer adjustments to AI-suggested ref</vt:lpstr>
      <vt:lpstr>An important consideration is that users with different leve</vt:lpstr>
      <vt:lpstr>Our study design also constrained the breadth of clinical in</vt:lpstr>
      <vt:lpstr>Positive impressions toward integrating AI support for breas</vt:lpstr>
      <vt:lpstr>Each participant experienced all four conditions following a</vt:lpstr>
      <vt:lpstr>Agreement with AI reflects the percentage of cases in which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 Engine</dc:creator>
  <dc:description>generated using python-pptx</dc:description>
  <cp:lastModifiedBy>Niharika vv</cp:lastModifiedBy>
  <cp:revision>2</cp:revision>
  <dcterms:created xsi:type="dcterms:W3CDTF">2013-01-27T09:14:00Z</dcterms:created>
  <dcterms:modified xsi:type="dcterms:W3CDTF">2025-11-20T17:17:48Z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3AB77987916C46BC8A2BD7EC40768CFC_12</vt:lpwstr>
  </property>
  <property fmtid="{D5CDD505-2E9C-101B-9397-08002B2CF9AE}" pid="3" name="KSOProductBuildVer">
    <vt:lpwstr>1033-12.2.0.23155</vt:lpwstr>
  </property>
</Properties>
</file>