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0B5FFF"/>
                </a:solidFill>
                <a:latin typeface="Calibri"/>
              </a:rPr>
              <a:t>Abstract</a:t>
            </a:r>
          </a:p>
          <a:p>
            <a:r>
              <a:rPr sz="2800" b="1">
                <a:solidFill>
                  <a:srgbClr val="0B5FFF"/>
                </a:solidFill>
                <a:latin typeface="Calibri"/>
              </a:rPr>
              <a:t>Primary eye care providers refer glaucoma patients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latin typeface="Calibri"/>
              </a:rPr>
              <a:t>Abstract</a:t>
            </a:r>
            <a:br/>
            <a:r>
              <a:rPr sz="1800" b="0">
                <a:latin typeface="Calibri"/>
              </a:rPr>
              <a:t>Primary eye care providers refer glaucoma patients using their clinical experience and context.</a:t>
            </a:r>
          </a:p>
          <a:p>
            <a:r>
              <a:rPr sz="1800" b="0">
                <a:latin typeface="Calibri"/>
              </a:rPr>
              <a:t>Specialized Artificial Intelligence (AI) excels in referrals trained on clinical data but relies on assumptions that may not hold in practice.</a:t>
            </a:r>
          </a:p>
          <a:p>
            <a:r>
              <a:rPr sz="1800" b="0">
                <a:latin typeface="Calibri"/>
              </a:rPr>
              <a:t>To address this knowledge imbalance, we proposed using AI explanations to help providers assess AI predictions against their experience and improve referrals.</a:t>
            </a:r>
          </a:p>
          <a:p>
            <a:r>
              <a:rPr sz="1800" b="0">
                <a:latin typeface="Calibri"/>
              </a:rPr>
              <a:t>We developed AI models to identify patients needing urgent referrals from routine eye care data and created intrinsic and post-hoc explanations.</a:t>
            </a:r>
          </a:p>
          <a:p>
            <a:r>
              <a:rPr sz="1800" b="0">
                <a:latin typeface="Calibri"/>
              </a:rPr>
              <a:t>In a user study with 87 optometrists, human-AI teams achieved higher accuracy (60%) than humans alone (51%), but explanations did not enhance performance.</a:t>
            </a:r>
          </a:p>
          <a:p>
            <a:r>
              <a:rPr sz="1800" b="0">
                <a:latin typeface="Calibri"/>
              </a:rPr>
              <a:t>Instead, they introduced uncertainty about when to trust AI.</a:t>
            </a:r>
          </a:p>
          <a:p>
            <a:r>
              <a:rPr sz="1800" b="0">
                <a:latin typeface="Calibri"/>
              </a:rPr>
              <a:t>Post-hoc explanations increased over-reliance on incorrect AI recommendations, and both explanation types contributed to anchoring bias, making participants align more closely with AI referrals than without explanations.</a:t>
            </a:r>
          </a:p>
          <a:p>
            <a:r>
              <a:rPr sz="1800" b="0">
                <a:latin typeface="Calibri"/>
              </a:rPr>
              <a:t>Overall, human-AI teams still underperformed the AI alone (80% accuracy).</a:t>
            </a:r>
          </a:p>
          <a:p>
            <a:r>
              <a:rPr sz="1800" b="0">
                <a:latin typeface="Calibri"/>
              </a:rPr>
              <a:t>Challenges persist in designing effective support mechanisms to surpass AI performance while preserving human agency.</a:t>
            </a:r>
          </a:p>
          <a:p>
            <a:r>
              <a:rPr sz="1800" b="0">
                <a:latin typeface="Calibri"/>
              </a:rPr>
              <a:t>Introduction</a:t>
            </a:r>
            <a:br/>
            <a:r>
              <a:rPr sz="1800" b="0">
                <a:latin typeface="Calibri"/>
              </a:rPr>
              <a:t>Primary care providers serve as the first point of contact in healthcare, managing various health issues and referring patients to specialists for advanced treatment or diagnosis.</a:t>
            </a:r>
          </a:p>
          <a:p>
            <a:r>
              <a:rPr sz="1800" b="0">
                <a:latin typeface="Calibri"/>
              </a:rPr>
              <a:t>Prompt referrals to specialists are crucial in detecting mild- or asymptomatic conditions that still cause irreversible damage to prevent severe outcomes, like permanent vision loss and rapidly progressing glaucoma1,2.</a:t>
            </a:r>
          </a:p>
          <a:p>
            <a:r>
              <a:rPr sz="1800" b="0">
                <a:latin typeface="Calibri"/>
              </a:rPr>
              <a:t>Glaucoma is a chronic progressive optic neuropathy that can cause vision loss and blindness by damaging the optic nerve head (ONH) and retinal nerve fiber layer (RNFL).</a:t>
            </a:r>
          </a:p>
          <a:p>
            <a:r>
              <a:rPr sz="1800" b="0">
                <a:latin typeface="Calibri"/>
              </a:rPr>
              <a:t>This condition encompasses multiple subtypes, with open-angle glaucoma being the most common form.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0B5FFF"/>
                </a:solidFill>
                <a:latin typeface="Calibri"/>
              </a:rPr>
              <a:t>It is often associated with elevated intraocular pressure du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auto_chart_176365854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Auto-generated chart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0B5FFF"/>
                </a:solidFill>
                <a:latin typeface="Calibri"/>
              </a:rPr>
              <a:t>On the other hand, while the AI may handle multimodal data11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auto_chart_1763658548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Auto-generated chart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B5FFF"/>
                </a:solidFill>
                <a:latin typeface="Calibri"/>
              </a:rPr>
              <a:t>Participants reviewed 20 ophthalmic patient vignettes from 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auto_image_176365854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3" y="1143000"/>
            <a:ext cx="783771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0B5FFF"/>
                </a:solidFill>
                <a:latin typeface="Calibri"/>
              </a:rPr>
              <a:t>Discussion</a:t>
            </a:r>
          </a:p>
          <a:p>
            <a:r>
              <a:rPr sz="2800" b="1">
                <a:solidFill>
                  <a:srgbClr val="0B5FFF"/>
                </a:solidFill>
                <a:latin typeface="Calibri"/>
              </a:rPr>
              <a:t>We evaluated AI support in human-machine teams fo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auto_chart_1763658548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Auto-generated chart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0B5FFF"/>
                </a:solidFill>
                <a:latin typeface="Calibri"/>
              </a:rPr>
              <a:t>Further validation with larger samples is needed to address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auto_chart_1763658549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Auto-generated chart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 b="1">
                <a:solidFill>
                  <a:srgbClr val="0B5FFF"/>
                </a:solidFill>
                <a:latin typeface="Calibri"/>
              </a:rPr>
              <a:t>Understanding benefits of AI support over humans working ind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auto_chart_1763658549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Auto-generated chart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B5FFF"/>
                </a:solidFill>
                <a:latin typeface="Calibri"/>
              </a:rPr>
              <a:t>They then assessed patient vignettes without AI support, fol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pic>
        <p:nvPicPr>
          <p:cNvPr id="7" name="Picture 6" descr="auto_image_1763658549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3" y="1143000"/>
            <a:ext cx="7837714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AI Engine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